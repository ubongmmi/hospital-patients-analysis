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1E2761"/>
            </a:solidFill>
            <a:effectLst/>
          </c:spPr>
          <c:invertIfNegative val="0"/>
          <c:dLbls>
            <c:numFmt formatCode="0.0&quot;M&quot;" sourceLinked="0"/>
            <c:txPr>
              <a:bodyPr/>
              <a:lstStyle/>
              <a:p>
                <a:pPr>
                  <a:defRPr b="1" i="0" strike="noStrike" sz="1200" u="none">
                    <a:solidFill>
                      <a:srgbClr val="1E2761"/>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2021</c:v>
                  </c:pt>
                  <c:pt idx="1">
                    <c:v>2022</c:v>
                  </c:pt>
                  <c:pt idx="2">
                    <c:v>2023</c:v>
                  </c:pt>
                  <c:pt idx="3">
                    <c:v>2024</c:v>
                  </c:pt>
                </c:lvl>
              </c:multiLvlStrCache>
            </c:multiLvlStrRef>
          </c:cat>
          <c:val>
            <c:numRef>
              <c:f>Sheet1!$B$2:$B$5</c:f>
              <c:numCache>
                <c:formatCode>General</c:formatCode>
                <c:ptCount val="4"/>
                <c:pt idx="0">
                  <c:v>1.5</c:v>
                </c:pt>
                <c:pt idx="1">
                  <c:v>3.6</c:v>
                </c:pt>
                <c:pt idx="2">
                  <c:v>3.1</c:v>
                </c:pt>
                <c:pt idx="3">
                  <c:v>1.5</c:v>
                </c:pt>
              </c:numCache>
            </c:numRef>
          </c:val>
        </c:ser>
        <c:dLbls>
          <c:numFmt formatCode="0.0&quot;M&quot;" sourceLinked="0"/>
          <c:txPr>
            <a:bodyPr/>
            <a:lstStyle/>
            <a:p>
              <a:pPr>
                <a:defRPr b="1" i="0" strike="noStrike" sz="12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12700" cap="flat">
              <a:solidFill>
                <a:srgbClr val="E4E8F2"/>
              </a:solidFill>
              <a:prstDash val="solid"/>
              <a:round/>
            </a:ln>
          </c:spPr>
        </c:majorGridlines>
        <c:numFmt formatCode="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Patients</c:v>
                </c:pt>
              </c:strCache>
            </c:strRef>
          </c:tx>
          <c:spPr>
            <a:solidFill>
              <a:srgbClr val="E8A73B"/>
            </a:solidFill>
            <a:effectLst/>
          </c:spPr>
          <c:invertIfNegative val="0"/>
          <c:dLbls>
            <c:numFmt formatCode="#,##0" sourceLinked="0"/>
            <c:txPr>
              <a:bodyPr/>
              <a:lstStyle/>
              <a:p>
                <a:pPr>
                  <a:defRPr b="1" i="0" strike="noStrike" sz="1200" u="none">
                    <a:solidFill>
                      <a:srgbClr val="1E2761"/>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2021</c:v>
                  </c:pt>
                  <c:pt idx="1">
                    <c:v>2022</c:v>
                  </c:pt>
                  <c:pt idx="2">
                    <c:v>2023</c:v>
                  </c:pt>
                  <c:pt idx="3">
                    <c:v>2024</c:v>
                  </c:pt>
                </c:lvl>
              </c:multiLvlStrCache>
            </c:multiLvlStrRef>
          </c:cat>
          <c:val>
            <c:numRef>
              <c:f>Sheet1!$B$2:$B$5</c:f>
              <c:numCache>
                <c:formatCode>General</c:formatCode>
                <c:ptCount val="4"/>
                <c:pt idx="0">
                  <c:v>155</c:v>
                </c:pt>
                <c:pt idx="1">
                  <c:v>326</c:v>
                </c:pt>
                <c:pt idx="2">
                  <c:v>352</c:v>
                </c:pt>
                <c:pt idx="3">
                  <c:v>167</c:v>
                </c:pt>
              </c:numCache>
            </c:numRef>
          </c:val>
        </c:ser>
        <c:dLbls>
          <c:numFmt formatCode="#,##0" sourceLinked="0"/>
          <c:txPr>
            <a:bodyPr/>
            <a:lstStyle/>
            <a:p>
              <a:pPr>
                <a:defRPr b="1" i="0" strike="noStrike" sz="12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12700" cap="flat">
              <a:solidFill>
                <a:srgbClr val="E4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(M)</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0.79</c:v>
                </c:pt>
                <c:pt idx="1">
                  <c:v>0.9</c:v>
                </c:pt>
                <c:pt idx="2">
                  <c:v>0.52</c:v>
                </c:pt>
                <c:pt idx="3">
                  <c:v>0.72</c:v>
                </c:pt>
                <c:pt idx="4">
                  <c:v>0.83</c:v>
                </c:pt>
                <c:pt idx="5">
                  <c:v>0.75</c:v>
                </c:pt>
                <c:pt idx="6">
                  <c:v>1.09</c:v>
                </c:pt>
                <c:pt idx="7">
                  <c:v>0.8</c:v>
                </c:pt>
                <c:pt idx="8">
                  <c:v>0.62</c:v>
                </c:pt>
                <c:pt idx="9">
                  <c:v>0.91</c:v>
                </c:pt>
                <c:pt idx="10">
                  <c:v>0.65</c:v>
                </c:pt>
                <c:pt idx="11">
                  <c:v>0.71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12700" cap="flat">
              <a:solidFill>
                <a:srgbClr val="E4E8F2"/>
              </a:solidFill>
              <a:prstDash val="solid"/>
              <a:round/>
            </a:ln>
          </c:spPr>
        </c:majorGridlines>
        <c:numFmt formatCode="0.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(M)</c:v>
                </c:pt>
              </c:strCache>
            </c:strRef>
          </c:tx>
          <c:spPr>
            <a:solidFill>
              <a:srgbClr val="1E2761"/>
            </a:solidFill>
            <a:effectLst/>
          </c:spPr>
          <c:invertIfNegative val="0"/>
          <c:dLbls>
            <c:numFmt formatCode="0.00&quot;M&quot;" sourceLinked="0"/>
            <c:txPr>
              <a:bodyPr/>
              <a:lstStyle/>
              <a:p>
                <a:pPr>
                  <a:defRPr b="1" i="0" strike="noStrike" sz="1100" u="none">
                    <a:solidFill>
                      <a:srgbClr val="1E2761"/>
                    </a:solidFill>
                    <a:latin typeface="Arial"/>
                  </a:defRPr>
                </a:pPr>
              </a:p>
            </c:txPr>
            <c:showLegendKey val="0"/>
            <c:showVal val="1"/>
            <c:showCatName val="0"/>
            <c:showSerName val="0"/>
            <c:showPercent val="0"/>
            <c:showBubbleSize val="0"/>
            <c:showLeaderLines val="0"/>
          </c:dLbls>
          <c:cat>
            <c:multiLvlStrRef>
              <c:f>Sheet1!$A$2:$A$11</c:f>
              <c:multiLvlStrCache>
                <c:ptCount val="10"/>
                <c:lvl>
                  <c:pt idx="0">
                    <c:v>Other</c:v>
                  </c:pt>
                  <c:pt idx="1">
                    <c:v>Topical Care</c:v>
                  </c:pt>
                  <c:pt idx="2">
                    <c:v>Rehydration</c:v>
                  </c:pt>
                  <c:pt idx="3">
                    <c:v>Therapy</c:v>
                  </c:pt>
                  <c:pt idx="4">
                    <c:v>Respiratory</c:v>
                  </c:pt>
                  <c:pt idx="5">
                    <c:v>Ventilation</c:v>
                  </c:pt>
                  <c:pt idx="6">
                    <c:v>Speech Therapy</c:v>
                  </c:pt>
                  <c:pt idx="7">
                    <c:v>Radiology</c:v>
                  </c:pt>
                  <c:pt idx="8">
                    <c:v>Physiotherapy</c:v>
                  </c:pt>
                  <c:pt idx="9">
                    <c:v>Surgery</c:v>
                  </c:pt>
                </c:lvl>
              </c:multiLvlStrCache>
            </c:multiLvlStrRef>
          </c:cat>
          <c:val>
            <c:numRef>
              <c:f>Sheet1!$B$2:$B$11</c:f>
              <c:numCache>
                <c:formatCode>General</c:formatCode>
                <c:ptCount val="10"/>
                <c:pt idx="0">
                  <c:v>0.02</c:v>
                </c:pt>
                <c:pt idx="1">
                  <c:v>0.03</c:v>
                </c:pt>
                <c:pt idx="2">
                  <c:v>0.04</c:v>
                </c:pt>
                <c:pt idx="3">
                  <c:v>0.05</c:v>
                </c:pt>
                <c:pt idx="4">
                  <c:v>0.08</c:v>
                </c:pt>
                <c:pt idx="5">
                  <c:v>0.1</c:v>
                </c:pt>
                <c:pt idx="6">
                  <c:v>0.15</c:v>
                </c:pt>
                <c:pt idx="7">
                  <c:v>0.4</c:v>
                </c:pt>
                <c:pt idx="8">
                  <c:v>0.8</c:v>
                </c:pt>
                <c:pt idx="9">
                  <c:v>1.3</c:v>
                </c:pt>
              </c:numCache>
            </c:numRef>
          </c:val>
        </c:ser>
        <c:dLbls>
          <c:numFmt formatCode="0.00&quot;M&quot;" sourceLinked="0"/>
          <c:txPr>
            <a:bodyPr/>
            <a:lstStyle/>
            <a:p>
              <a:pPr>
                <a:defRPr b="1" i="0" strike="noStrike" sz="11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12700" cap="flat">
              <a:solidFill>
                <a:srgbClr val="E4E8F2"/>
              </a:solidFill>
              <a:prstDash val="solid"/>
              <a:round/>
            </a:ln>
          </c:spPr>
        </c:majorGridlines>
        <c:numFmt formatCode="0.0&quot;M&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E8A73B"/>
              </a:solidFill>
              <a:effectLst/>
            </c:spPr>
          </c:dPt>
          <c:dLbls>
            <c:dLbl>
              <c:idx val="0"/>
              <c:numFmt formatCode="General"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Male (51.1%)</c:v>
                </c:pt>
                <c:pt idx="1">
                  <c:v>Female (48.9%)</c:v>
                </c:pt>
              </c:strCache>
            </c:strRef>
          </c:cat>
          <c:val>
            <c:numRef>
              <c:f>Sheet1!$B$2:$B$3</c:f>
              <c:numCache>
                <c:ptCount val="2"/>
                <c:pt idx="0">
                  <c:v>511</c:v>
                </c:pt>
                <c:pt idx="1">
                  <c:v>489</c:v>
                </c:pt>
              </c:numCache>
            </c:numRef>
          </c:val>
        </c:ser>
        <c:firstSliceAng val="0"/>
        <c:holeSize val="55"/>
      </c:doughnutChart>
      <c:spPr>
        <a:noFill/>
        <a:ln>
          <a:noFill/>
        </a:ln>
        <a:effectLst/>
      </c:spPr>
    </c:plotArea>
    <c:legend>
      <c:legendPos val="b"/>
      <c:overlay val="0"/>
      <c:txPr>
        <a:bodyPr/>
        <a:lstStyle/>
        <a:p>
          <a:pPr>
            <a:defRPr sz="1200">
              <a:solidFill>
                <a:srgbClr val="1A1A2E"/>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LOS (K days)</c:v>
                </c:pt>
              </c:strCache>
            </c:strRef>
          </c:tx>
          <c:spPr>
            <a:solidFill>
              <a:srgbClr val="1E2761"/>
            </a:solidFill>
            <a:effectLst/>
          </c:spPr>
          <c:invertIfNegative val="0"/>
          <c:dLbls>
            <c:numFmt formatCode="0.0&quot;K&quot;" sourceLinked="0"/>
            <c:txPr>
              <a:bodyPr/>
              <a:lstStyle/>
              <a:p>
                <a:pPr>
                  <a:defRPr b="1"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Sheet1!$A$2:$A$8</c:f>
              <c:multiLvlStrCache>
                <c:ptCount val="7"/>
                <c:lvl>
                  <c:pt idx="0">
                    <c:v>Senior</c:v>
                  </c:pt>
                  <c:pt idx="1">
                    <c:v>Young Adult</c:v>
                  </c:pt>
                  <c:pt idx="2">
                    <c:v>Elderly</c:v>
                  </c:pt>
                  <c:pt idx="3">
                    <c:v>Middle-Aged</c:v>
                  </c:pt>
                  <c:pt idx="4">
                    <c:v>Child</c:v>
                  </c:pt>
                  <c:pt idx="5">
                    <c:v>Youth</c:v>
                  </c:pt>
                  <c:pt idx="6">
                    <c:v>Infant</c:v>
                  </c:pt>
                </c:lvl>
              </c:multiLvlStrCache>
            </c:multiLvlStrRef>
          </c:cat>
          <c:val>
            <c:numRef>
              <c:f>Sheet1!$B$2:$B$8</c:f>
              <c:numCache>
                <c:formatCode>General</c:formatCode>
                <c:ptCount val="7"/>
                <c:pt idx="0">
                  <c:v>4</c:v>
                </c:pt>
                <c:pt idx="1">
                  <c:v>2.9</c:v>
                </c:pt>
                <c:pt idx="2">
                  <c:v>2.3</c:v>
                </c:pt>
                <c:pt idx="3">
                  <c:v>1.9</c:v>
                </c:pt>
                <c:pt idx="4">
                  <c:v>1.2</c:v>
                </c:pt>
                <c:pt idx="5">
                  <c:v>0.6</c:v>
                </c:pt>
                <c:pt idx="6">
                  <c:v>0.2</c:v>
                </c:pt>
              </c:numCache>
            </c:numRef>
          </c:val>
        </c:ser>
        <c:dLbls>
          <c:numFmt formatCode="0.0&quot;K&quot;" sourceLinked="0"/>
          <c:txPr>
            <a:bodyPr/>
            <a:lstStyle/>
            <a:p>
              <a:pPr>
                <a:defRPr b="1" i="0" strike="noStrike" sz="10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4E8F2"/>
              </a:solidFill>
              <a:prstDash val="solid"/>
              <a:round/>
            </a:ln>
          </c:spPr>
        </c:majorGridlines>
        <c:numFmt formatCode="0.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63373"/>
          </a:solidFill>
          <a:ln/>
        </p:spPr>
      </p:sp>
      <p:sp>
        <p:nvSpPr>
          <p:cNvPr id="3" name="Shape 1"/>
          <p:cNvSpPr/>
          <p:nvPr/>
        </p:nvSpPr>
        <p:spPr>
          <a:xfrm>
            <a:off x="10241280" y="4206240"/>
            <a:ext cx="3657600" cy="3657600"/>
          </a:xfrm>
          <a:prstGeom prst="ellipse">
            <a:avLst/>
          </a:prstGeom>
          <a:solidFill>
            <a:srgbClr val="263373"/>
          </a:solidFill>
          <a:ln/>
        </p:spPr>
      </p:sp>
      <p:sp>
        <p:nvSpPr>
          <p:cNvPr id="4" name="Text 2"/>
          <p:cNvSpPr/>
          <p:nvPr/>
        </p:nvSpPr>
        <p:spPr>
          <a:xfrm>
            <a:off x="731520" y="233172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HOSPITAL RECORDS ANALYSIS</a:t>
            </a:r>
            <a:endParaRPr lang="en-US" sz="4000" dirty="0"/>
          </a:p>
        </p:txBody>
      </p:sp>
      <p:sp>
        <p:nvSpPr>
          <p:cNvPr id="5" name="Text 3"/>
          <p:cNvSpPr/>
          <p:nvPr/>
        </p:nvSpPr>
        <p:spPr>
          <a:xfrm>
            <a:off x="731520" y="3063240"/>
            <a:ext cx="9601200" cy="640080"/>
          </a:xfrm>
          <a:prstGeom prst="rect">
            <a:avLst/>
          </a:prstGeom>
          <a:noFill/>
          <a:ln/>
        </p:spPr>
        <p:txBody>
          <a:bodyPr wrap="square" lIns="0" tIns="0" rIns="0" bIns="0" rtlCol="0" anchor="ctr"/>
          <a:lstStyle/>
          <a:p>
            <a:pPr indent="0" marL="0">
              <a:buNone/>
            </a:pPr>
            <a:r>
              <a:rPr lang="en-US" sz="2600" b="1" dirty="0">
                <a:solidFill>
                  <a:srgbClr val="E8A73B"/>
                </a:solidFill>
                <a:latin typeface="Cambria" pitchFamily="34" charset="0"/>
                <a:ea typeface="Cambria" pitchFamily="34" charset="-122"/>
                <a:cs typeface="Cambria" pitchFamily="34" charset="-120"/>
              </a:rPr>
              <a:t>2021 – 2024</a:t>
            </a:r>
            <a:endParaRPr lang="en-US" sz="2600" dirty="0"/>
          </a:p>
        </p:txBody>
      </p:sp>
      <p:sp>
        <p:nvSpPr>
          <p:cNvPr id="6" name="Text 4"/>
          <p:cNvSpPr/>
          <p:nvPr/>
        </p:nvSpPr>
        <p:spPr>
          <a:xfrm>
            <a:off x="731520" y="4160520"/>
            <a:ext cx="914400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Executive Summary  |  Patient Volume, Revenue &amp; Operational Performance</a:t>
            </a:r>
            <a:endParaRPr lang="en-US" sz="1500" dirty="0"/>
          </a:p>
        </p:txBody>
      </p:sp>
      <p:sp>
        <p:nvSpPr>
          <p:cNvPr id="7" name="Text 5"/>
          <p:cNvSpPr/>
          <p:nvPr/>
        </p:nvSpPr>
        <p:spPr>
          <a:xfrm>
            <a:off x="731520" y="6035040"/>
            <a:ext cx="9144000" cy="365760"/>
          </a:xfrm>
          <a:prstGeom prst="rect">
            <a:avLst/>
          </a:prstGeom>
          <a:noFill/>
          <a:ln/>
        </p:spPr>
        <p:txBody>
          <a:bodyPr wrap="square" lIns="0" tIns="0" rIns="0" bIns="0" rtlCol="0" anchor="ctr"/>
          <a:lstStyle/>
          <a:p>
            <a:pPr indent="0" marL="0">
              <a:buNone/>
            </a:pPr>
            <a:r>
              <a:rPr lang="en-US" sz="1200" dirty="0">
                <a:solidFill>
                  <a:srgbClr val="8593C4"/>
                </a:solidFill>
                <a:latin typeface="Calibri" pitchFamily="34" charset="0"/>
                <a:ea typeface="Calibri" pitchFamily="34" charset="-122"/>
                <a:cs typeface="Calibri" pitchFamily="34" charset="-120"/>
              </a:rPr>
              <a:t>Prepared by Ubong Solomon  •  Hospital Management 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1</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Introduction</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Why this analysis was conducted, and what it aims to inform</a:t>
            </a:r>
            <a:endParaRPr lang="en-US" sz="1300" dirty="0"/>
          </a:p>
        </p:txBody>
      </p:sp>
      <p:sp>
        <p:nvSpPr>
          <p:cNvPr id="5" name="Shape 3"/>
          <p:cNvSpPr/>
          <p:nvPr/>
        </p:nvSpPr>
        <p:spPr>
          <a:xfrm>
            <a:off x="548640" y="1783080"/>
            <a:ext cx="6492240" cy="4434840"/>
          </a:xfrm>
          <a:prstGeom prst="roundRect">
            <a:avLst>
              <a:gd name="adj" fmla="val 2062"/>
            </a:avLst>
          </a:prstGeom>
          <a:solidFill>
            <a:srgbClr val="F4F6FC"/>
          </a:solidFill>
          <a:ln/>
        </p:spPr>
      </p:sp>
      <p:sp>
        <p:nvSpPr>
          <p:cNvPr id="6" name="Text 4"/>
          <p:cNvSpPr/>
          <p:nvPr/>
        </p:nvSpPr>
        <p:spPr>
          <a:xfrm>
            <a:off x="868680" y="2057400"/>
            <a:ext cx="5852160" cy="3931920"/>
          </a:xfrm>
          <a:prstGeom prst="rect">
            <a:avLst/>
          </a:prstGeom>
          <a:noFill/>
          <a:ln/>
        </p:spPr>
        <p:txBody>
          <a:bodyPr wrap="square" rtlCol="0" anchor="t"/>
          <a:lstStyle/>
          <a:p>
            <a:pPr indent="0" marL="0">
              <a:lnSpc>
                <a:spcPct val="125000"/>
              </a:lnSpc>
              <a:buNone/>
            </a:pPr>
            <a:r>
              <a:rPr lang="en-US" sz="1350" dirty="0">
                <a:solidFill>
                  <a:srgbClr val="1A1A2E"/>
                </a:solidFill>
                <a:latin typeface="Calibri" pitchFamily="34" charset="0"/>
                <a:ea typeface="Calibri" pitchFamily="34" charset="-122"/>
                <a:cs typeface="Calibri" pitchFamily="34" charset="-120"/>
              </a:rPr>
              <a:t>Hospitals generate large volumes of operational data every day — admissions, treatments, diagnoses, billing, and discharge records. Left unexamined, this data offers little value beyond day-to-day record-keeping.
</a:t>
            </a:r>
            <a:endParaRPr lang="en-US" sz="1350" dirty="0"/>
          </a:p>
          <a:p>
            <a:pPr indent="0" marL="0">
              <a:lnSpc>
                <a:spcPct val="125000"/>
              </a:lnSpc>
              <a:buNone/>
            </a:pPr>
            <a:r>
              <a:rPr lang="en-US" sz="1350" dirty="0">
                <a:solidFill>
                  <a:srgbClr val="1A1A2E"/>
                </a:solidFill>
                <a:latin typeface="Calibri" pitchFamily="34" charset="0"/>
                <a:ea typeface="Calibri" pitchFamily="34" charset="-122"/>
                <a:cs typeface="Calibri" pitchFamily="34" charset="-120"/>
              </a:rPr>
              <a:t>This project analyzes four years (2021–2024) of hospital records through an interactive dashboard, turning raw admission and billing data into insights that support management decisions on revenue, treatment demand, patient volume, and resource utilization.
</a:t>
            </a:r>
            <a:pPr indent="0" marL="0">
              <a:lnSpc>
                <a:spcPct val="125000"/>
              </a:lnSpc>
              <a:buNone/>
            </a:pPr>
            <a:r>
              <a:rPr lang="en-US" sz="1350" dirty="0">
                <a:solidFill>
                  <a:srgbClr val="1A1A2E"/>
                </a:solidFill>
                <a:latin typeface="Calibri" pitchFamily="34" charset="0"/>
                <a:ea typeface="Calibri" pitchFamily="34" charset="-122"/>
                <a:cs typeface="Calibri" pitchFamily="34" charset="-120"/>
              </a:rPr>
              <a:t>The goal of this report is to summarize the dashboard's findings in a structured format for management review, and to translate the numbers into clear, actionable recommendations.</a:t>
            </a:r>
            <a:endParaRPr lang="en-US" sz="1350" dirty="0"/>
          </a:p>
        </p:txBody>
      </p:sp>
      <p:sp>
        <p:nvSpPr>
          <p:cNvPr id="7" name="Shape 5"/>
          <p:cNvSpPr/>
          <p:nvPr/>
        </p:nvSpPr>
        <p:spPr>
          <a:xfrm>
            <a:off x="7269480" y="1783080"/>
            <a:ext cx="4370832" cy="1280160"/>
          </a:xfrm>
          <a:prstGeom prst="roundRect">
            <a:avLst>
              <a:gd name="adj" fmla="val 7143"/>
            </a:avLst>
          </a:prstGeom>
          <a:solidFill>
            <a:srgbClr val="1E2761"/>
          </a:solidFill>
          <a:ln/>
        </p:spPr>
      </p:sp>
      <p:sp>
        <p:nvSpPr>
          <p:cNvPr id="8" name="Text 6"/>
          <p:cNvSpPr/>
          <p:nvPr/>
        </p:nvSpPr>
        <p:spPr>
          <a:xfrm>
            <a:off x="7498080" y="1920240"/>
            <a:ext cx="201168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4</a:t>
            </a:r>
            <a:endParaRPr lang="en-US" sz="3200" dirty="0"/>
          </a:p>
        </p:txBody>
      </p:sp>
      <p:sp>
        <p:nvSpPr>
          <p:cNvPr id="9" name="Text 7"/>
          <p:cNvSpPr/>
          <p:nvPr/>
        </p:nvSpPr>
        <p:spPr>
          <a:xfrm>
            <a:off x="9418320" y="1920240"/>
            <a:ext cx="2103120" cy="1005840"/>
          </a:xfrm>
          <a:prstGeom prst="rect">
            <a:avLst/>
          </a:prstGeom>
          <a:noFill/>
          <a:ln/>
        </p:spPr>
        <p:txBody>
          <a:bodyPr wrap="square" lIns="0" tIns="0" rIns="0" bIns="0" rtlCol="0" anchor="ctr"/>
          <a:lstStyle/>
          <a:p>
            <a:pPr indent="0" marL="0">
              <a:buNone/>
            </a:pPr>
            <a:r>
              <a:rPr lang="en-US" sz="1150" spc="100" kern="0" dirty="0">
                <a:solidFill>
                  <a:srgbClr val="CADCFC"/>
                </a:solidFill>
                <a:latin typeface="Calibri" pitchFamily="34" charset="0"/>
                <a:ea typeface="Calibri" pitchFamily="34" charset="-122"/>
                <a:cs typeface="Calibri" pitchFamily="34" charset="-120"/>
              </a:rPr>
              <a:t>YEARS COVERED</a:t>
            </a:r>
            <a:endParaRPr lang="en-US" sz="1150" dirty="0"/>
          </a:p>
        </p:txBody>
      </p:sp>
      <p:sp>
        <p:nvSpPr>
          <p:cNvPr id="10" name="Shape 8"/>
          <p:cNvSpPr/>
          <p:nvPr/>
        </p:nvSpPr>
        <p:spPr>
          <a:xfrm>
            <a:off x="7269480" y="3291840"/>
            <a:ext cx="4370832" cy="1280160"/>
          </a:xfrm>
          <a:prstGeom prst="roundRect">
            <a:avLst>
              <a:gd name="adj" fmla="val 7143"/>
            </a:avLst>
          </a:prstGeom>
          <a:solidFill>
            <a:srgbClr val="1E2761"/>
          </a:solidFill>
          <a:ln/>
        </p:spPr>
      </p:sp>
      <p:sp>
        <p:nvSpPr>
          <p:cNvPr id="11" name="Text 9"/>
          <p:cNvSpPr/>
          <p:nvPr/>
        </p:nvSpPr>
        <p:spPr>
          <a:xfrm>
            <a:off x="7498080" y="3429000"/>
            <a:ext cx="201168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1,000</a:t>
            </a:r>
            <a:endParaRPr lang="en-US" sz="3200" dirty="0"/>
          </a:p>
        </p:txBody>
      </p:sp>
      <p:sp>
        <p:nvSpPr>
          <p:cNvPr id="12" name="Text 10"/>
          <p:cNvSpPr/>
          <p:nvPr/>
        </p:nvSpPr>
        <p:spPr>
          <a:xfrm>
            <a:off x="9418320" y="3429000"/>
            <a:ext cx="2103120" cy="1005840"/>
          </a:xfrm>
          <a:prstGeom prst="rect">
            <a:avLst/>
          </a:prstGeom>
          <a:noFill/>
          <a:ln/>
        </p:spPr>
        <p:txBody>
          <a:bodyPr wrap="square" lIns="0" tIns="0" rIns="0" bIns="0" rtlCol="0" anchor="ctr"/>
          <a:lstStyle/>
          <a:p>
            <a:pPr indent="0" marL="0">
              <a:buNone/>
            </a:pPr>
            <a:r>
              <a:rPr lang="en-US" sz="1150" spc="100" kern="0" dirty="0">
                <a:solidFill>
                  <a:srgbClr val="CADCFC"/>
                </a:solidFill>
                <a:latin typeface="Calibri" pitchFamily="34" charset="0"/>
                <a:ea typeface="Calibri" pitchFamily="34" charset="-122"/>
                <a:cs typeface="Calibri" pitchFamily="34" charset="-120"/>
              </a:rPr>
              <a:t>PATIENT RECORDS</a:t>
            </a:r>
            <a:endParaRPr lang="en-US" sz="1150" dirty="0"/>
          </a:p>
        </p:txBody>
      </p:sp>
      <p:sp>
        <p:nvSpPr>
          <p:cNvPr id="13" name="Shape 11"/>
          <p:cNvSpPr/>
          <p:nvPr/>
        </p:nvSpPr>
        <p:spPr>
          <a:xfrm>
            <a:off x="7269480" y="4800600"/>
            <a:ext cx="4370832" cy="1280160"/>
          </a:xfrm>
          <a:prstGeom prst="roundRect">
            <a:avLst>
              <a:gd name="adj" fmla="val 7143"/>
            </a:avLst>
          </a:prstGeom>
          <a:solidFill>
            <a:srgbClr val="1E2761"/>
          </a:solidFill>
          <a:ln/>
        </p:spPr>
      </p:sp>
      <p:sp>
        <p:nvSpPr>
          <p:cNvPr id="14" name="Text 12"/>
          <p:cNvSpPr/>
          <p:nvPr/>
        </p:nvSpPr>
        <p:spPr>
          <a:xfrm>
            <a:off x="7498080" y="4937760"/>
            <a:ext cx="201168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37</a:t>
            </a:r>
            <a:endParaRPr lang="en-US" sz="3200" dirty="0"/>
          </a:p>
        </p:txBody>
      </p:sp>
      <p:sp>
        <p:nvSpPr>
          <p:cNvPr id="15" name="Text 13"/>
          <p:cNvSpPr/>
          <p:nvPr/>
        </p:nvSpPr>
        <p:spPr>
          <a:xfrm>
            <a:off x="9418320" y="4937760"/>
            <a:ext cx="2103120" cy="1005840"/>
          </a:xfrm>
          <a:prstGeom prst="rect">
            <a:avLst/>
          </a:prstGeom>
          <a:noFill/>
          <a:ln/>
        </p:spPr>
        <p:txBody>
          <a:bodyPr wrap="square" lIns="0" tIns="0" rIns="0" bIns="0" rtlCol="0" anchor="ctr"/>
          <a:lstStyle/>
          <a:p>
            <a:pPr indent="0" marL="0">
              <a:buNone/>
            </a:pPr>
            <a:r>
              <a:rPr lang="en-US" sz="1150" spc="100" kern="0" dirty="0">
                <a:solidFill>
                  <a:srgbClr val="CADCFC"/>
                </a:solidFill>
                <a:latin typeface="Calibri" pitchFamily="34" charset="0"/>
                <a:ea typeface="Calibri" pitchFamily="34" charset="-122"/>
                <a:cs typeface="Calibri" pitchFamily="34" charset="-120"/>
              </a:rPr>
              <a:t>TREATMENT TYPES</a:t>
            </a:r>
            <a:endParaRPr lang="en-US" sz="1150" dirty="0"/>
          </a:p>
        </p:txBody>
      </p:sp>
      <p:sp>
        <p:nvSpPr>
          <p:cNvPr id="16" name="Text 14"/>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17" name="Text 1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2</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Data Description</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What the underlying dataset contains, and its scope</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863840" cy="4434840"/>
        </p:xfrm>
        <a:graphic>
          <a:graphicData uri="http://schemas.openxmlformats.org/drawingml/2006/table">
            <a:tbl>
              <a:tblPr/>
              <a:tblGrid>
                <a:gridCol w="2743200"/>
                <a:gridCol w="5120640"/>
              </a:tblGrid>
              <a:tr h="492760">
                <a:tc>
                  <a:txBody>
                    <a:bodyPr/>
                    <a:lstStyle/>
                    <a:p>
                      <a:pPr indent="0" marL="0">
                        <a:buNone/>
                      </a:pPr>
                      <a:r>
                        <a:rPr lang="en-US" sz="1300" b="1" dirty="0">
                          <a:solidFill>
                            <a:srgbClr val="FFFFFF"/>
                          </a:solidFill>
                        </a:rPr>
                        <a:t>Field</a:t>
                      </a:r>
                      <a:endParaRPr lang="en-US" sz="130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rPr>
                        <a:t>Description</a:t>
                      </a:r>
                      <a:endParaRPr lang="en-US" sz="130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r>
              <a:tr h="492760">
                <a:tc>
                  <a:txBody>
                    <a:bodyPr/>
                    <a:lstStyle/>
                    <a:p>
                      <a:pPr indent="0" marL="0">
                        <a:buNone/>
                      </a:pPr>
                      <a:r>
                        <a:rPr lang="en-US" sz="1250" b="1" dirty="0">
                          <a:solidFill>
                            <a:srgbClr val="1A1A2E"/>
                          </a:solidFill>
                        </a:rPr>
                        <a:t>Patient ID</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Unique identifier per patient/admission</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492760">
                <a:tc>
                  <a:txBody>
                    <a:bodyPr/>
                    <a:lstStyle/>
                    <a:p>
                      <a:pPr indent="0" marL="0">
                        <a:buNone/>
                      </a:pPr>
                      <a:r>
                        <a:rPr lang="en-US" sz="1250" b="1" dirty="0">
                          <a:solidFill>
                            <a:srgbClr val="1A1A2E"/>
                          </a:solidFill>
                        </a:rPr>
                        <a:t>Admit Year / Month</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c>
                  <a:txBody>
                    <a:bodyPr/>
                    <a:lstStyle/>
                    <a:p>
                      <a:pPr indent="0" marL="0">
                        <a:buNone/>
                      </a:pPr>
                      <a:r>
                        <a:rPr lang="en-US" sz="1250" dirty="0">
                          <a:solidFill>
                            <a:srgbClr val="1A1A2E"/>
                          </a:solidFill>
                        </a:rPr>
                        <a:t>Date of hospital admission</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r>
              <a:tr h="492760">
                <a:tc>
                  <a:txBody>
                    <a:bodyPr/>
                    <a:lstStyle/>
                    <a:p>
                      <a:pPr indent="0" marL="0">
                        <a:buNone/>
                      </a:pPr>
                      <a:r>
                        <a:rPr lang="en-US" sz="1250" b="1" dirty="0">
                          <a:solidFill>
                            <a:srgbClr val="1A1A2E"/>
                          </a:solidFill>
                        </a:rPr>
                        <a:t>Age Group</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Infant, Child, Youth, Young Adult, Middle-Aged, Elderly, Senior</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492760">
                <a:tc>
                  <a:txBody>
                    <a:bodyPr/>
                    <a:lstStyle/>
                    <a:p>
                      <a:pPr indent="0" marL="0">
                        <a:buNone/>
                      </a:pPr>
                      <a:r>
                        <a:rPr lang="en-US" sz="1250" b="1" dirty="0">
                          <a:solidFill>
                            <a:srgbClr val="1A1A2E"/>
                          </a:solidFill>
                        </a:rPr>
                        <a:t>Gender</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c>
                  <a:txBody>
                    <a:bodyPr/>
                    <a:lstStyle/>
                    <a:p>
                      <a:pPr indent="0" marL="0">
                        <a:buNone/>
                      </a:pPr>
                      <a:r>
                        <a:rPr lang="en-US" sz="1250" dirty="0">
                          <a:solidFill>
                            <a:srgbClr val="1A1A2E"/>
                          </a:solidFill>
                        </a:rPr>
                        <a:t>Male / Female</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r>
              <a:tr h="492760">
                <a:tc>
                  <a:txBody>
                    <a:bodyPr/>
                    <a:lstStyle/>
                    <a:p>
                      <a:pPr indent="0" marL="0">
                        <a:buNone/>
                      </a:pPr>
                      <a:r>
                        <a:rPr lang="en-US" sz="1250" b="1" dirty="0">
                          <a:solidFill>
                            <a:srgbClr val="1A1A2E"/>
                          </a:solidFill>
                        </a:rPr>
                        <a:t>Treatment Type</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37 distinct treatment/service types</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492760">
                <a:tc>
                  <a:txBody>
                    <a:bodyPr/>
                    <a:lstStyle/>
                    <a:p>
                      <a:pPr indent="0" marL="0">
                        <a:buNone/>
                      </a:pPr>
                      <a:r>
                        <a:rPr lang="en-US" sz="1250" b="1" dirty="0">
                          <a:solidFill>
                            <a:srgbClr val="1A1A2E"/>
                          </a:solidFill>
                        </a:rPr>
                        <a:t>Diagnosis</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c>
                  <a:txBody>
                    <a:bodyPr/>
                    <a:lstStyle/>
                    <a:p>
                      <a:pPr indent="0" marL="0">
                        <a:buNone/>
                      </a:pPr>
                      <a:r>
                        <a:rPr lang="en-US" sz="1250" dirty="0">
                          <a:solidFill>
                            <a:srgbClr val="1A1A2E"/>
                          </a:solidFill>
                        </a:rPr>
                        <a:t>29 unique diagnoses</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r>
              <a:tr h="492760">
                <a:tc>
                  <a:txBody>
                    <a:bodyPr/>
                    <a:lstStyle/>
                    <a:p>
                      <a:pPr indent="0" marL="0">
                        <a:buNone/>
                      </a:pPr>
                      <a:r>
                        <a:rPr lang="en-US" sz="1250" b="1" dirty="0">
                          <a:solidFill>
                            <a:srgbClr val="1A1A2E"/>
                          </a:solidFill>
                        </a:rPr>
                        <a:t>Length of Stay (LOS)</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Number of days admitted</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r>
              <a:tr h="492760">
                <a:tc>
                  <a:txBody>
                    <a:bodyPr/>
                    <a:lstStyle/>
                    <a:p>
                      <a:pPr indent="0" marL="0">
                        <a:buNone/>
                      </a:pPr>
                      <a:r>
                        <a:rPr lang="en-US" sz="1250" b="1" dirty="0">
                          <a:solidFill>
                            <a:srgbClr val="1A1A2E"/>
                          </a:solidFill>
                        </a:rPr>
                        <a:t>Billing Amount (USD)</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c>
                  <a:txBody>
                    <a:bodyPr/>
                    <a:lstStyle/>
                    <a:p>
                      <a:pPr indent="0" marL="0">
                        <a:buNone/>
                      </a:pPr>
                      <a:r>
                        <a:rPr lang="en-US" sz="1250" dirty="0">
                          <a:solidFill>
                            <a:srgbClr val="1A1A2E"/>
                          </a:solidFill>
                        </a:rPr>
                        <a:t>Revenue generated per record</a:t>
                      </a:r>
                      <a:endParaRPr lang="en-US" sz="1250" dirty="0"/>
                    </a:p>
                  </a:txBody>
                  <a:tcPr marL="101600" marR="101600" marT="50800" marB="50800"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C"/>
                    </a:solidFill>
                  </a:tcPr>
                </a:tc>
              </a:tr>
            </a:tbl>
          </a:graphicData>
        </a:graphic>
      </p:graphicFrame>
      <p:sp>
        <p:nvSpPr>
          <p:cNvPr id="6" name="Shape 3"/>
          <p:cNvSpPr/>
          <p:nvPr/>
        </p:nvSpPr>
        <p:spPr>
          <a:xfrm>
            <a:off x="8641080" y="1783080"/>
            <a:ext cx="2999232" cy="4434840"/>
          </a:xfrm>
          <a:prstGeom prst="roundRect">
            <a:avLst>
              <a:gd name="adj" fmla="val 3049"/>
            </a:avLst>
          </a:prstGeom>
          <a:solidFill>
            <a:srgbClr val="F4F6FC"/>
          </a:solidFill>
          <a:ln/>
        </p:spPr>
      </p:sp>
      <p:sp>
        <p:nvSpPr>
          <p:cNvPr id="7" name="Text 4"/>
          <p:cNvSpPr/>
          <p:nvPr/>
        </p:nvSpPr>
        <p:spPr>
          <a:xfrm>
            <a:off x="8869680" y="2011680"/>
            <a:ext cx="256032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Scope</a:t>
            </a:r>
            <a:endParaRPr lang="en-US" sz="1400" dirty="0"/>
          </a:p>
        </p:txBody>
      </p:sp>
      <p:sp>
        <p:nvSpPr>
          <p:cNvPr id="8" name="Text 5"/>
          <p:cNvSpPr/>
          <p:nvPr/>
        </p:nvSpPr>
        <p:spPr>
          <a:xfrm>
            <a:off x="8869680" y="2514600"/>
            <a:ext cx="2606040" cy="3383280"/>
          </a:xfrm>
          <a:prstGeom prst="rect">
            <a:avLst/>
          </a:prstGeom>
          <a:noFill/>
          <a:ln/>
        </p:spPr>
        <p:txBody>
          <a:bodyPr wrap="square" rtlCol="0" anchor="t"/>
          <a:lstStyle/>
          <a:p>
            <a:pPr marL="342900" indent="-342900">
              <a:spcAft>
                <a:spcPts val="1000"/>
              </a:spcAft>
              <a:buSzPct val="100000"/>
              <a:buChar char="•"/>
            </a:pPr>
            <a:r>
              <a:rPr lang="en-US" sz="1250" b="1" dirty="0">
                <a:solidFill>
                  <a:srgbClr val="1A1A2E"/>
                </a:solidFill>
                <a:latin typeface="Calibri" pitchFamily="34" charset="0"/>
                <a:ea typeface="Calibri" pitchFamily="34" charset="-122"/>
                <a:cs typeface="Calibri" pitchFamily="34" charset="-120"/>
              </a:rPr>
              <a:t>1,000 patient records</a:t>
            </a:r>
            <a:endParaRPr lang="en-US" sz="1250" dirty="0"/>
          </a:p>
          <a:p>
            <a:pPr marL="342900" indent="-342900">
              <a:spcAft>
                <a:spcPts val="1000"/>
              </a:spcAft>
              <a:buSzPct val="100000"/>
              <a:buChar char="•"/>
            </a:pPr>
            <a:r>
              <a:rPr lang="en-US" sz="1250" dirty="0">
                <a:solidFill>
                  <a:srgbClr val="1A1A2E"/>
                </a:solidFill>
                <a:latin typeface="Calibri" pitchFamily="34" charset="0"/>
                <a:ea typeface="Calibri" pitchFamily="34" charset="-122"/>
                <a:cs typeface="Calibri" pitchFamily="34" charset="-120"/>
              </a:rPr>
              <a:t>Reporting period: 2021–2024</a:t>
            </a:r>
            <a:endParaRPr lang="en-US" sz="1250" dirty="0"/>
          </a:p>
          <a:p>
            <a:pPr marL="342900" indent="-342900">
              <a:spcAft>
                <a:spcPts val="1000"/>
              </a:spcAft>
              <a:buSzPct val="100000"/>
              <a:buChar char="•"/>
            </a:pPr>
            <a:r>
              <a:rPr lang="en-US" sz="1250" dirty="0">
                <a:solidFill>
                  <a:srgbClr val="1A1A2E"/>
                </a:solidFill>
                <a:latin typeface="Calibri" pitchFamily="34" charset="0"/>
                <a:ea typeface="Calibri" pitchFamily="34" charset="-122"/>
                <a:cs typeface="Calibri" pitchFamily="34" charset="-120"/>
              </a:rPr>
              <a:t>Filterable by Admit Year, Age Group, and Gender</a:t>
            </a:r>
            <a:endParaRPr lang="en-US" sz="1250" dirty="0"/>
          </a:p>
        </p:txBody>
      </p:sp>
      <p:sp>
        <p:nvSpPr>
          <p:cNvPr id="9" name="Text 6"/>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10"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E8A73B"/>
                </a:solidFill>
                <a:latin typeface="Calibri" pitchFamily="34" charset="0"/>
                <a:ea typeface="Calibri" pitchFamily="34" charset="-122"/>
                <a:cs typeface="Calibri" pitchFamily="34" charset="-120"/>
              </a:rPr>
              <a:t>SECTION 3</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Methodology</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How the raw records were turned into the findings on the following slides</a:t>
            </a:r>
            <a:endParaRPr lang="en-US" sz="1300" dirty="0"/>
          </a:p>
        </p:txBody>
      </p:sp>
      <p:sp>
        <p:nvSpPr>
          <p:cNvPr id="5" name="Shape 3"/>
          <p:cNvSpPr/>
          <p:nvPr/>
        </p:nvSpPr>
        <p:spPr>
          <a:xfrm>
            <a:off x="548640" y="1874520"/>
            <a:ext cx="548640" cy="548640"/>
          </a:xfrm>
          <a:prstGeom prst="ellipse">
            <a:avLst/>
          </a:prstGeom>
          <a:solidFill>
            <a:srgbClr val="E8A73B"/>
          </a:solidFill>
          <a:ln/>
        </p:spPr>
      </p:sp>
      <p:sp>
        <p:nvSpPr>
          <p:cNvPr id="6" name="Text 4"/>
          <p:cNvSpPr/>
          <p:nvPr/>
        </p:nvSpPr>
        <p:spPr>
          <a:xfrm>
            <a:off x="548640" y="1874520"/>
            <a:ext cx="548640" cy="54864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71600" y="1856232"/>
            <a:ext cx="283464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Consolidation</a:t>
            </a:r>
            <a:endParaRPr lang="en-US" sz="1450" dirty="0"/>
          </a:p>
        </p:txBody>
      </p:sp>
      <p:sp>
        <p:nvSpPr>
          <p:cNvPr id="8" name="Text 6"/>
          <p:cNvSpPr/>
          <p:nvPr/>
        </p:nvSpPr>
        <p:spPr>
          <a:xfrm>
            <a:off x="4343400" y="1856232"/>
            <a:ext cx="7223760" cy="5943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Admission, treatment, and billing records combined into a single structured table.</a:t>
            </a:r>
            <a:endParaRPr lang="en-US" sz="1250" dirty="0"/>
          </a:p>
        </p:txBody>
      </p:sp>
      <p:sp>
        <p:nvSpPr>
          <p:cNvPr id="9" name="Shape 7"/>
          <p:cNvSpPr/>
          <p:nvPr/>
        </p:nvSpPr>
        <p:spPr>
          <a:xfrm>
            <a:off x="548640" y="2715768"/>
            <a:ext cx="548640" cy="548640"/>
          </a:xfrm>
          <a:prstGeom prst="ellipse">
            <a:avLst/>
          </a:prstGeom>
          <a:solidFill>
            <a:srgbClr val="E8A73B"/>
          </a:solidFill>
          <a:ln/>
        </p:spPr>
      </p:sp>
      <p:sp>
        <p:nvSpPr>
          <p:cNvPr id="10" name="Text 8"/>
          <p:cNvSpPr/>
          <p:nvPr/>
        </p:nvSpPr>
        <p:spPr>
          <a:xfrm>
            <a:off x="548640" y="2715768"/>
            <a:ext cx="548640" cy="54864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371600" y="2697480"/>
            <a:ext cx="283464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Cleaning</a:t>
            </a:r>
            <a:endParaRPr lang="en-US" sz="1450" dirty="0"/>
          </a:p>
        </p:txBody>
      </p:sp>
      <p:sp>
        <p:nvSpPr>
          <p:cNvPr id="12" name="Text 10"/>
          <p:cNvSpPr/>
          <p:nvPr/>
        </p:nvSpPr>
        <p:spPr>
          <a:xfrm>
            <a:off x="4343400" y="2697480"/>
            <a:ext cx="7223760" cy="5943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Checked for missing values, duplicate patient entries, and inconsistent category labels.</a:t>
            </a:r>
            <a:endParaRPr lang="en-US" sz="1250" dirty="0"/>
          </a:p>
        </p:txBody>
      </p:sp>
      <p:sp>
        <p:nvSpPr>
          <p:cNvPr id="13" name="Shape 11"/>
          <p:cNvSpPr/>
          <p:nvPr/>
        </p:nvSpPr>
        <p:spPr>
          <a:xfrm>
            <a:off x="548640" y="3557016"/>
            <a:ext cx="548640" cy="548640"/>
          </a:xfrm>
          <a:prstGeom prst="ellipse">
            <a:avLst/>
          </a:prstGeom>
          <a:solidFill>
            <a:srgbClr val="E8A73B"/>
          </a:solidFill>
          <a:ln/>
        </p:spPr>
      </p:sp>
      <p:sp>
        <p:nvSpPr>
          <p:cNvPr id="14" name="Text 12"/>
          <p:cNvSpPr/>
          <p:nvPr/>
        </p:nvSpPr>
        <p:spPr>
          <a:xfrm>
            <a:off x="548640" y="3557016"/>
            <a:ext cx="548640" cy="54864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371600" y="3538728"/>
            <a:ext cx="283464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Aggregation</a:t>
            </a:r>
            <a:endParaRPr lang="en-US" sz="1450" dirty="0"/>
          </a:p>
        </p:txBody>
      </p:sp>
      <p:sp>
        <p:nvSpPr>
          <p:cNvPr id="16" name="Text 14"/>
          <p:cNvSpPr/>
          <p:nvPr/>
        </p:nvSpPr>
        <p:spPr>
          <a:xfrm>
            <a:off x="4343400" y="3538728"/>
            <a:ext cx="7223760" cy="5943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Revenue, patient counts, and LOS aggregated by year, month, treatment type, age group, and gender.</a:t>
            </a:r>
            <a:endParaRPr lang="en-US" sz="1250" dirty="0"/>
          </a:p>
        </p:txBody>
      </p:sp>
      <p:sp>
        <p:nvSpPr>
          <p:cNvPr id="17" name="Shape 15"/>
          <p:cNvSpPr/>
          <p:nvPr/>
        </p:nvSpPr>
        <p:spPr>
          <a:xfrm>
            <a:off x="548640" y="4398264"/>
            <a:ext cx="548640" cy="548640"/>
          </a:xfrm>
          <a:prstGeom prst="ellipse">
            <a:avLst/>
          </a:prstGeom>
          <a:solidFill>
            <a:srgbClr val="E8A73B"/>
          </a:solidFill>
          <a:ln/>
        </p:spPr>
      </p:sp>
      <p:sp>
        <p:nvSpPr>
          <p:cNvPr id="18" name="Text 16"/>
          <p:cNvSpPr/>
          <p:nvPr/>
        </p:nvSpPr>
        <p:spPr>
          <a:xfrm>
            <a:off x="548640" y="4398264"/>
            <a:ext cx="548640" cy="54864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371600" y="4379976"/>
            <a:ext cx="283464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Visualization</a:t>
            </a:r>
            <a:endParaRPr lang="en-US" sz="1450" dirty="0"/>
          </a:p>
        </p:txBody>
      </p:sp>
      <p:sp>
        <p:nvSpPr>
          <p:cNvPr id="20" name="Text 18"/>
          <p:cNvSpPr/>
          <p:nvPr/>
        </p:nvSpPr>
        <p:spPr>
          <a:xfrm>
            <a:off x="4343400" y="4379976"/>
            <a:ext cx="7223760" cy="5943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Built into an interactive dashboard with column charts, a line chart, a donut chart, and KPI cards.</a:t>
            </a:r>
            <a:endParaRPr lang="en-US" sz="1250" dirty="0"/>
          </a:p>
        </p:txBody>
      </p:sp>
      <p:sp>
        <p:nvSpPr>
          <p:cNvPr id="21" name="Shape 19"/>
          <p:cNvSpPr/>
          <p:nvPr/>
        </p:nvSpPr>
        <p:spPr>
          <a:xfrm>
            <a:off x="548640" y="5239512"/>
            <a:ext cx="548640" cy="548640"/>
          </a:xfrm>
          <a:prstGeom prst="ellipse">
            <a:avLst/>
          </a:prstGeom>
          <a:solidFill>
            <a:srgbClr val="E8A73B"/>
          </a:solidFill>
          <a:ln/>
        </p:spPr>
      </p:sp>
      <p:sp>
        <p:nvSpPr>
          <p:cNvPr id="22" name="Text 20"/>
          <p:cNvSpPr/>
          <p:nvPr/>
        </p:nvSpPr>
        <p:spPr>
          <a:xfrm>
            <a:off x="548640" y="5239512"/>
            <a:ext cx="548640" cy="54864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1371600" y="5221224"/>
            <a:ext cx="283464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Interpretation</a:t>
            </a:r>
            <a:endParaRPr lang="en-US" sz="1450" dirty="0"/>
          </a:p>
        </p:txBody>
      </p:sp>
      <p:sp>
        <p:nvSpPr>
          <p:cNvPr id="24" name="Text 22"/>
          <p:cNvSpPr/>
          <p:nvPr/>
        </p:nvSpPr>
        <p:spPr>
          <a:xfrm>
            <a:off x="4343400" y="5221224"/>
            <a:ext cx="7223760" cy="5943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Reviewed patterns to surface trends, anomalies, and areas warranting management attention.</a:t>
            </a:r>
            <a:endParaRPr lang="en-US" sz="1250" dirty="0"/>
          </a:p>
        </p:txBody>
      </p:sp>
      <p:sp>
        <p:nvSpPr>
          <p:cNvPr id="25" name="Text 23"/>
          <p:cNvSpPr/>
          <p:nvPr/>
        </p:nvSpPr>
        <p:spPr>
          <a:xfrm>
            <a:off x="548640" y="6217920"/>
            <a:ext cx="7315200" cy="365760"/>
          </a:xfrm>
          <a:prstGeom prst="rect">
            <a:avLst/>
          </a:prstGeom>
          <a:noFill/>
          <a:ln/>
        </p:spPr>
        <p:txBody>
          <a:bodyPr wrap="square" lIns="0" tIns="0" rIns="0" bIns="0" rtlCol="0" anchor="ctr"/>
          <a:lstStyle/>
          <a:p>
            <a:pPr indent="0" marL="0">
              <a:buNone/>
            </a:pPr>
            <a:r>
              <a:rPr lang="en-US" sz="1250" i="1" dirty="0">
                <a:solidFill>
                  <a:srgbClr val="9AA9CC"/>
                </a:solidFill>
                <a:latin typeface="Calibri" pitchFamily="34" charset="0"/>
                <a:ea typeface="Calibri" pitchFamily="34" charset="-122"/>
                <a:cs typeface="Calibri" pitchFamily="34" charset="-120"/>
              </a:rPr>
              <a:t>Tool used: Power BI Desktop</a:t>
            </a:r>
            <a:endParaRPr lang="en-US" sz="1250" dirty="0"/>
          </a:p>
        </p:txBody>
      </p:sp>
      <p:sp>
        <p:nvSpPr>
          <p:cNvPr id="26" name="Text 24"/>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9AA9CC"/>
                </a:solidFill>
                <a:latin typeface="Calibri" pitchFamily="34" charset="0"/>
                <a:ea typeface="Calibri" pitchFamily="34" charset="-122"/>
                <a:cs typeface="Calibri" pitchFamily="34" charset="-120"/>
              </a:rPr>
              <a:t>Hospital Records Analysis 2021–2024</a:t>
            </a:r>
            <a:endParaRPr lang="en-US" sz="1000" dirty="0"/>
          </a:p>
        </p:txBody>
      </p:sp>
      <p:sp>
        <p:nvSpPr>
          <p:cNvPr id="27"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4  •  ANALYSIS AND FINDING</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Revenue &amp; Patient Volume by Year</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Revenue peaked in 2022, while patient intake peaked a year later in 2023</a:t>
            </a:r>
            <a:endParaRPr lang="en-US" sz="1300" dirty="0"/>
          </a:p>
        </p:txBody>
      </p:sp>
      <p:sp>
        <p:nvSpPr>
          <p:cNvPr id="5" name="Text 3"/>
          <p:cNvSpPr/>
          <p:nvPr/>
        </p:nvSpPr>
        <p:spPr>
          <a:xfrm>
            <a:off x="548640" y="1828800"/>
            <a:ext cx="539496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Total Revenue by Admit Year (USD, Millions)</a:t>
            </a:r>
            <a:endParaRPr lang="en-US" sz="1300" dirty="0"/>
          </a:p>
        </p:txBody>
      </p:sp>
      <p:graphicFrame>
        <p:nvGraphicFramePr>
          <p:cNvPr id="6" name="Chart 0" descr=""/>
          <p:cNvGraphicFramePr/>
          <p:nvPr/>
        </p:nvGraphicFramePr>
        <p:xfrm>
          <a:off x="548640" y="2194560"/>
          <a:ext cx="5394960" cy="3977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263640" y="1828800"/>
            <a:ext cx="539496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Patient Count by Admit Year</a:t>
            </a:r>
            <a:endParaRPr lang="en-US" sz="1300" dirty="0"/>
          </a:p>
        </p:txBody>
      </p:sp>
      <p:graphicFrame>
        <p:nvGraphicFramePr>
          <p:cNvPr id="8" name="Chart 1" descr=""/>
          <p:cNvGraphicFramePr/>
          <p:nvPr/>
        </p:nvGraphicFramePr>
        <p:xfrm>
          <a:off x="6263640" y="2194560"/>
          <a:ext cx="5394960" cy="39776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10"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4  •  ANALYSIS AND FINDING</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Monthly Revenue Trend</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Total revenue by admit month across the full reporting period (USD, Millions)</a:t>
            </a:r>
            <a:endParaRPr lang="en-US" sz="1300" dirty="0"/>
          </a:p>
        </p:txBody>
      </p:sp>
      <p:graphicFrame>
        <p:nvGraphicFramePr>
          <p:cNvPr id="5" name="Chart 0" descr=""/>
          <p:cNvGraphicFramePr/>
          <p:nvPr/>
        </p:nvGraphicFramePr>
        <p:xfrm>
          <a:off x="548640" y="1828800"/>
          <a:ext cx="11064240" cy="4069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55280" y="6035040"/>
            <a:ext cx="3657600" cy="566928"/>
          </a:xfrm>
          <a:prstGeom prst="roundRect">
            <a:avLst>
              <a:gd name="adj" fmla="val 12903"/>
            </a:avLst>
          </a:prstGeom>
          <a:solidFill>
            <a:srgbClr val="F4F6FC"/>
          </a:solidFill>
          <a:ln/>
        </p:spPr>
      </p:sp>
      <p:sp>
        <p:nvSpPr>
          <p:cNvPr id="7" name="Text 4"/>
          <p:cNvSpPr/>
          <p:nvPr/>
        </p:nvSpPr>
        <p:spPr>
          <a:xfrm>
            <a:off x="7955280" y="6035040"/>
            <a:ext cx="3657600" cy="56692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Peak: Jul ($1.09M)   </a:t>
            </a:r>
            <a:pPr algn="ctr" indent="0" marL="0">
              <a:buNone/>
            </a:pPr>
            <a:r>
              <a:rPr lang="en-US" sz="1200" b="1" dirty="0">
                <a:solidFill>
                  <a:srgbClr val="5A6B8C"/>
                </a:solidFill>
                <a:latin typeface="Calibri" pitchFamily="34" charset="0"/>
                <a:ea typeface="Calibri" pitchFamily="34" charset="-122"/>
                <a:cs typeface="Calibri" pitchFamily="34" charset="-120"/>
              </a:rPr>
              <a:t>Low: Mar ($0.52M)</a:t>
            </a:r>
            <a:endParaRPr lang="en-US" sz="1200" dirty="0"/>
          </a:p>
        </p:txBody>
      </p:sp>
      <p:sp>
        <p:nvSpPr>
          <p:cNvPr id="8" name="Text 5"/>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9"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4  •  ANALYSIS AND FINDING</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Revenue by Treatment Type</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Top 10 treatments by revenue contribution (USD, Millions)</a:t>
            </a:r>
            <a:endParaRPr lang="en-US" sz="1300" dirty="0"/>
          </a:p>
        </p:txBody>
      </p:sp>
      <p:graphicFrame>
        <p:nvGraphicFramePr>
          <p:cNvPr id="5" name="Chart 0" descr=""/>
          <p:cNvGraphicFramePr/>
          <p:nvPr/>
        </p:nvGraphicFramePr>
        <p:xfrm>
          <a:off x="548640" y="1828800"/>
          <a:ext cx="1106424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7"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4  •  ANALYSIS AND FINDING</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Patient Demographics &amp; Length of Stay</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Gender split is near-even; LOS is heavily concentrated among senior and young-adult patients</a:t>
            </a:r>
            <a:endParaRPr lang="en-US" sz="1300" dirty="0"/>
          </a:p>
        </p:txBody>
      </p:sp>
      <p:sp>
        <p:nvSpPr>
          <p:cNvPr id="5" name="Text 3"/>
          <p:cNvSpPr/>
          <p:nvPr/>
        </p:nvSpPr>
        <p:spPr>
          <a:xfrm>
            <a:off x="548640" y="1828800"/>
            <a:ext cx="4206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Gender Distribution (%)</a:t>
            </a:r>
            <a:endParaRPr lang="en-US" sz="1300" dirty="0"/>
          </a:p>
        </p:txBody>
      </p:sp>
      <p:graphicFrame>
        <p:nvGraphicFramePr>
          <p:cNvPr id="6" name="Chart 0" descr=""/>
          <p:cNvGraphicFramePr/>
          <p:nvPr/>
        </p:nvGraphicFramePr>
        <p:xfrm>
          <a:off x="548640" y="2194560"/>
          <a:ext cx="4206240" cy="3977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212080" y="1828800"/>
            <a:ext cx="64008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Total Length of Stay by Age Group (Days, Thousands)</a:t>
            </a:r>
            <a:endParaRPr lang="en-US" sz="1300" dirty="0"/>
          </a:p>
        </p:txBody>
      </p:sp>
      <p:graphicFrame>
        <p:nvGraphicFramePr>
          <p:cNvPr id="8" name="Chart 1" descr=""/>
          <p:cNvGraphicFramePr/>
          <p:nvPr/>
        </p:nvGraphicFramePr>
        <p:xfrm>
          <a:off x="5212080" y="2194560"/>
          <a:ext cx="6400800" cy="39776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10"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E8A73B"/>
                </a:solidFill>
                <a:latin typeface="Calibri" pitchFamily="34" charset="0"/>
                <a:ea typeface="Calibri" pitchFamily="34" charset="-122"/>
                <a:cs typeface="Calibri" pitchFamily="34" charset="-120"/>
              </a:rPr>
              <a:t>SECTION 5</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Key Insight</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 patterns management should be most aware of</a:t>
            </a:r>
            <a:endParaRPr lang="en-US" sz="1300" dirty="0"/>
          </a:p>
        </p:txBody>
      </p:sp>
      <p:sp>
        <p:nvSpPr>
          <p:cNvPr id="5" name="Shape 3"/>
          <p:cNvSpPr/>
          <p:nvPr/>
        </p:nvSpPr>
        <p:spPr>
          <a:xfrm>
            <a:off x="548640" y="1783080"/>
            <a:ext cx="5349240" cy="1874520"/>
          </a:xfrm>
          <a:prstGeom prst="roundRect">
            <a:avLst>
              <a:gd name="adj" fmla="val 4878"/>
            </a:avLst>
          </a:prstGeom>
          <a:solidFill>
            <a:srgbClr val="263373"/>
          </a:solidFill>
          <a:ln/>
        </p:spPr>
      </p:sp>
      <p:sp>
        <p:nvSpPr>
          <p:cNvPr id="6" name="Shape 4"/>
          <p:cNvSpPr/>
          <p:nvPr/>
        </p:nvSpPr>
        <p:spPr>
          <a:xfrm>
            <a:off x="822960" y="2039112"/>
            <a:ext cx="457200" cy="457200"/>
          </a:xfrm>
          <a:prstGeom prst="ellipse">
            <a:avLst/>
          </a:prstGeom>
          <a:solidFill>
            <a:srgbClr val="E8A73B"/>
          </a:solidFill>
          <a:ln/>
        </p:spPr>
      </p:sp>
      <p:sp>
        <p:nvSpPr>
          <p:cNvPr id="7" name="Text 5"/>
          <p:cNvSpPr/>
          <p:nvPr/>
        </p:nvSpPr>
        <p:spPr>
          <a:xfrm>
            <a:off x="822960" y="2039112"/>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63040" y="2020824"/>
            <a:ext cx="4160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Revenue and volume are diverging</a:t>
            </a:r>
            <a:endParaRPr lang="en-US" sz="1400" dirty="0"/>
          </a:p>
        </p:txBody>
      </p:sp>
      <p:sp>
        <p:nvSpPr>
          <p:cNvPr id="9" name="Text 7"/>
          <p:cNvSpPr/>
          <p:nvPr/>
        </p:nvSpPr>
        <p:spPr>
          <a:xfrm>
            <a:off x="868680" y="2587752"/>
            <a:ext cx="4709160" cy="914400"/>
          </a:xfrm>
          <a:prstGeom prst="rect">
            <a:avLst/>
          </a:prstGeom>
          <a:noFill/>
          <a:ln/>
        </p:spPr>
        <p:txBody>
          <a:bodyPr wrap="square" lIns="0" tIns="0" rIns="0" bIns="0" rtlCol="0" anchor="t"/>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Patient volume kept growing into 2023, but revenue had already peaked in 2022 and was falling — pointing to a decline in revenue per patient rather than a decline in demand.</a:t>
            </a:r>
            <a:endParaRPr lang="en-US" sz="1200" dirty="0"/>
          </a:p>
        </p:txBody>
      </p:sp>
      <p:sp>
        <p:nvSpPr>
          <p:cNvPr id="10" name="Shape 8"/>
          <p:cNvSpPr/>
          <p:nvPr/>
        </p:nvSpPr>
        <p:spPr>
          <a:xfrm>
            <a:off x="6263640" y="1783080"/>
            <a:ext cx="5349240" cy="1874520"/>
          </a:xfrm>
          <a:prstGeom prst="roundRect">
            <a:avLst>
              <a:gd name="adj" fmla="val 4878"/>
            </a:avLst>
          </a:prstGeom>
          <a:solidFill>
            <a:srgbClr val="263373"/>
          </a:solidFill>
          <a:ln/>
        </p:spPr>
      </p:sp>
      <p:sp>
        <p:nvSpPr>
          <p:cNvPr id="11" name="Shape 9"/>
          <p:cNvSpPr/>
          <p:nvPr/>
        </p:nvSpPr>
        <p:spPr>
          <a:xfrm>
            <a:off x="6537960" y="2039112"/>
            <a:ext cx="457200" cy="457200"/>
          </a:xfrm>
          <a:prstGeom prst="ellipse">
            <a:avLst/>
          </a:prstGeom>
          <a:solidFill>
            <a:srgbClr val="E8A73B"/>
          </a:solidFill>
          <a:ln/>
        </p:spPr>
      </p:sp>
      <p:sp>
        <p:nvSpPr>
          <p:cNvPr id="12" name="Text 10"/>
          <p:cNvSpPr/>
          <p:nvPr/>
        </p:nvSpPr>
        <p:spPr>
          <a:xfrm>
            <a:off x="6537960" y="2039112"/>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7178040" y="2020824"/>
            <a:ext cx="4160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Two treatment lines carry the revenue</a:t>
            </a:r>
            <a:endParaRPr lang="en-US" sz="1400" dirty="0"/>
          </a:p>
        </p:txBody>
      </p:sp>
      <p:sp>
        <p:nvSpPr>
          <p:cNvPr id="14" name="Text 12"/>
          <p:cNvSpPr/>
          <p:nvPr/>
        </p:nvSpPr>
        <p:spPr>
          <a:xfrm>
            <a:off x="6583680" y="2587752"/>
            <a:ext cx="4709160" cy="914400"/>
          </a:xfrm>
          <a:prstGeom prst="rect">
            <a:avLst/>
          </a:prstGeom>
          <a:noFill/>
          <a:ln/>
        </p:spPr>
        <p:txBody>
          <a:bodyPr wrap="square" lIns="0" tIns="0" rIns="0" bIns="0" rtlCol="0" anchor="t"/>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Surgery and Physiotherapy together account for the large majority of treatment revenue among the top 10 treatment types.</a:t>
            </a:r>
            <a:endParaRPr lang="en-US" sz="1200" dirty="0"/>
          </a:p>
        </p:txBody>
      </p:sp>
      <p:sp>
        <p:nvSpPr>
          <p:cNvPr id="15" name="Shape 13"/>
          <p:cNvSpPr/>
          <p:nvPr/>
        </p:nvSpPr>
        <p:spPr>
          <a:xfrm>
            <a:off x="548640" y="3931920"/>
            <a:ext cx="5349240" cy="1874520"/>
          </a:xfrm>
          <a:prstGeom prst="roundRect">
            <a:avLst>
              <a:gd name="adj" fmla="val 4878"/>
            </a:avLst>
          </a:prstGeom>
          <a:solidFill>
            <a:srgbClr val="263373"/>
          </a:solidFill>
          <a:ln/>
        </p:spPr>
      </p:sp>
      <p:sp>
        <p:nvSpPr>
          <p:cNvPr id="16" name="Shape 14"/>
          <p:cNvSpPr/>
          <p:nvPr/>
        </p:nvSpPr>
        <p:spPr>
          <a:xfrm>
            <a:off x="822960" y="4187952"/>
            <a:ext cx="457200" cy="457200"/>
          </a:xfrm>
          <a:prstGeom prst="ellipse">
            <a:avLst/>
          </a:prstGeom>
          <a:solidFill>
            <a:srgbClr val="E8A73B"/>
          </a:solidFill>
          <a:ln/>
        </p:spPr>
      </p:sp>
      <p:sp>
        <p:nvSpPr>
          <p:cNvPr id="17" name="Text 15"/>
          <p:cNvSpPr/>
          <p:nvPr/>
        </p:nvSpPr>
        <p:spPr>
          <a:xfrm>
            <a:off x="822960" y="4187952"/>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463040" y="4169664"/>
            <a:ext cx="4160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Senior &amp; Young Adult patients drive bed occupancy</a:t>
            </a:r>
            <a:endParaRPr lang="en-US" sz="1400" dirty="0"/>
          </a:p>
        </p:txBody>
      </p:sp>
      <p:sp>
        <p:nvSpPr>
          <p:cNvPr id="19" name="Text 17"/>
          <p:cNvSpPr/>
          <p:nvPr/>
        </p:nvSpPr>
        <p:spPr>
          <a:xfrm>
            <a:off x="868680" y="4736592"/>
            <a:ext cx="4709160" cy="914400"/>
          </a:xfrm>
          <a:prstGeom prst="rect">
            <a:avLst/>
          </a:prstGeom>
          <a:noFill/>
          <a:ln/>
        </p:spPr>
        <p:txBody>
          <a:bodyPr wrap="square" lIns="0" tIns="0" rIns="0" bIns="0" rtlCol="0" anchor="t"/>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These two groups account for the largest share of total length of stay, making them the primary lever for managing bed turnover.</a:t>
            </a:r>
            <a:endParaRPr lang="en-US" sz="1200" dirty="0"/>
          </a:p>
        </p:txBody>
      </p:sp>
      <p:sp>
        <p:nvSpPr>
          <p:cNvPr id="20" name="Shape 18"/>
          <p:cNvSpPr/>
          <p:nvPr/>
        </p:nvSpPr>
        <p:spPr>
          <a:xfrm>
            <a:off x="6263640" y="3931920"/>
            <a:ext cx="5349240" cy="1874520"/>
          </a:xfrm>
          <a:prstGeom prst="roundRect">
            <a:avLst>
              <a:gd name="adj" fmla="val 4878"/>
            </a:avLst>
          </a:prstGeom>
          <a:solidFill>
            <a:srgbClr val="263373"/>
          </a:solidFill>
          <a:ln/>
        </p:spPr>
      </p:sp>
      <p:sp>
        <p:nvSpPr>
          <p:cNvPr id="21" name="Shape 19"/>
          <p:cNvSpPr/>
          <p:nvPr/>
        </p:nvSpPr>
        <p:spPr>
          <a:xfrm>
            <a:off x="6537960" y="4187952"/>
            <a:ext cx="457200" cy="457200"/>
          </a:xfrm>
          <a:prstGeom prst="ellipse">
            <a:avLst/>
          </a:prstGeom>
          <a:solidFill>
            <a:srgbClr val="E8A73B"/>
          </a:solidFill>
          <a:ln/>
        </p:spPr>
      </p:sp>
      <p:sp>
        <p:nvSpPr>
          <p:cNvPr id="22" name="Text 20"/>
          <p:cNvSpPr/>
          <p:nvPr/>
        </p:nvSpPr>
        <p:spPr>
          <a:xfrm>
            <a:off x="6537960" y="4187952"/>
            <a:ext cx="457200" cy="45720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7178040" y="4169664"/>
            <a:ext cx="4160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2024 marks a downturn on both fronts</a:t>
            </a:r>
            <a:endParaRPr lang="en-US" sz="1400" dirty="0"/>
          </a:p>
        </p:txBody>
      </p:sp>
      <p:sp>
        <p:nvSpPr>
          <p:cNvPr id="24" name="Text 22"/>
          <p:cNvSpPr/>
          <p:nvPr/>
        </p:nvSpPr>
        <p:spPr>
          <a:xfrm>
            <a:off x="6583680" y="4736592"/>
            <a:ext cx="4709160" cy="914400"/>
          </a:xfrm>
          <a:prstGeom prst="rect">
            <a:avLst/>
          </a:prstGeom>
          <a:noFill/>
          <a:ln/>
        </p:spPr>
        <p:txBody>
          <a:bodyPr wrap="square" lIns="0" tIns="0" rIns="0" bIns="0" rtlCol="0" anchor="t"/>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Both revenue and patient volume fell sharply from 2023 to 2024, reversing the prior year's growth.</a:t>
            </a:r>
            <a:endParaRPr lang="en-US" sz="1200" dirty="0"/>
          </a:p>
        </p:txBody>
      </p:sp>
      <p:sp>
        <p:nvSpPr>
          <p:cNvPr id="25" name="Text 23"/>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9AA9CC"/>
                </a:solidFill>
                <a:latin typeface="Calibri" pitchFamily="34" charset="0"/>
                <a:ea typeface="Calibri" pitchFamily="34" charset="-122"/>
                <a:cs typeface="Calibri" pitchFamily="34" charset="-120"/>
              </a:rPr>
              <a:t>Hospital Records Analysis 2021–2024</a:t>
            </a:r>
            <a:endParaRPr lang="en-US" sz="1000" dirty="0"/>
          </a:p>
        </p:txBody>
      </p:sp>
      <p:sp>
        <p:nvSpPr>
          <p:cNvPr id="26" name="Text 2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8593C4"/>
                </a:solidFill>
                <a:latin typeface="Calibri" pitchFamily="34" charset="0"/>
                <a:ea typeface="Calibri" pitchFamily="34" charset="-122"/>
                <a:cs typeface="Calibri" pitchFamily="34" charset="-120"/>
              </a:rPr>
              <a:t>SECTION 6</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Recommendation</a:t>
            </a:r>
            <a:endParaRPr lang="en-US" sz="2700" dirty="0"/>
          </a:p>
        </p:txBody>
      </p:sp>
      <p:sp>
        <p:nvSpPr>
          <p:cNvPr id="4" name="Text 2"/>
          <p:cNvSpPr/>
          <p:nvPr/>
        </p:nvSpPr>
        <p:spPr>
          <a:xfrm>
            <a:off x="548640" y="1261872"/>
            <a:ext cx="10789920" cy="36576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Priority actions for hospital management</a:t>
            </a:r>
            <a:endParaRPr lang="en-US" sz="1300" dirty="0"/>
          </a:p>
        </p:txBody>
      </p:sp>
      <p:sp>
        <p:nvSpPr>
          <p:cNvPr id="5" name="Shape 3"/>
          <p:cNvSpPr/>
          <p:nvPr/>
        </p:nvSpPr>
        <p:spPr>
          <a:xfrm>
            <a:off x="548640" y="1874520"/>
            <a:ext cx="11091672" cy="685800"/>
          </a:xfrm>
          <a:prstGeom prst="roundRect">
            <a:avLst>
              <a:gd name="adj" fmla="val 10667"/>
            </a:avLst>
          </a:prstGeom>
          <a:solidFill>
            <a:srgbClr val="F4F6FC"/>
          </a:solidFill>
          <a:ln/>
        </p:spPr>
      </p:sp>
      <p:sp>
        <p:nvSpPr>
          <p:cNvPr id="6" name="Shape 4"/>
          <p:cNvSpPr/>
          <p:nvPr/>
        </p:nvSpPr>
        <p:spPr>
          <a:xfrm>
            <a:off x="777240" y="1984248"/>
            <a:ext cx="457200" cy="457200"/>
          </a:xfrm>
          <a:prstGeom prst="ellipse">
            <a:avLst/>
          </a:prstGeom>
          <a:solidFill>
            <a:srgbClr val="1E2761"/>
          </a:solidFill>
          <a:ln/>
        </p:spPr>
      </p:sp>
      <p:sp>
        <p:nvSpPr>
          <p:cNvPr id="7" name="Text 5"/>
          <p:cNvSpPr/>
          <p:nvPr/>
        </p:nvSpPr>
        <p:spPr>
          <a:xfrm>
            <a:off x="777240" y="19842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463040" y="1874520"/>
            <a:ext cx="9966960" cy="68580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Investigate the revenue-per-patient decline between 2022 and 2024 — review case mix, treatment pricing, and payer/insurance terms.</a:t>
            </a:r>
            <a:endParaRPr lang="en-US" sz="1250" dirty="0"/>
          </a:p>
        </p:txBody>
      </p:sp>
      <p:sp>
        <p:nvSpPr>
          <p:cNvPr id="9" name="Shape 7"/>
          <p:cNvSpPr/>
          <p:nvPr/>
        </p:nvSpPr>
        <p:spPr>
          <a:xfrm>
            <a:off x="548640" y="2715768"/>
            <a:ext cx="11091672" cy="685800"/>
          </a:xfrm>
          <a:prstGeom prst="roundRect">
            <a:avLst>
              <a:gd name="adj" fmla="val 10667"/>
            </a:avLst>
          </a:prstGeom>
          <a:solidFill>
            <a:srgbClr val="F4F6FC"/>
          </a:solidFill>
          <a:ln/>
        </p:spPr>
      </p:sp>
      <p:sp>
        <p:nvSpPr>
          <p:cNvPr id="10" name="Shape 8"/>
          <p:cNvSpPr/>
          <p:nvPr/>
        </p:nvSpPr>
        <p:spPr>
          <a:xfrm>
            <a:off x="777240" y="2825496"/>
            <a:ext cx="457200" cy="457200"/>
          </a:xfrm>
          <a:prstGeom prst="ellipse">
            <a:avLst/>
          </a:prstGeom>
          <a:solidFill>
            <a:srgbClr val="1E2761"/>
          </a:solidFill>
          <a:ln/>
        </p:spPr>
      </p:sp>
      <p:sp>
        <p:nvSpPr>
          <p:cNvPr id="11" name="Text 9"/>
          <p:cNvSpPr/>
          <p:nvPr/>
        </p:nvSpPr>
        <p:spPr>
          <a:xfrm>
            <a:off x="77724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463040" y="2715768"/>
            <a:ext cx="9966960" cy="68580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Protect and grow Surgery and Physiotherapy capacity — priority investment in staffing, equipment, and scheduling.</a:t>
            </a:r>
            <a:endParaRPr lang="en-US" sz="1250" dirty="0"/>
          </a:p>
        </p:txBody>
      </p:sp>
      <p:sp>
        <p:nvSpPr>
          <p:cNvPr id="13" name="Shape 11"/>
          <p:cNvSpPr/>
          <p:nvPr/>
        </p:nvSpPr>
        <p:spPr>
          <a:xfrm>
            <a:off x="548640" y="3557016"/>
            <a:ext cx="11091672" cy="685800"/>
          </a:xfrm>
          <a:prstGeom prst="roundRect">
            <a:avLst>
              <a:gd name="adj" fmla="val 10667"/>
            </a:avLst>
          </a:prstGeom>
          <a:solidFill>
            <a:srgbClr val="F4F6FC"/>
          </a:solidFill>
          <a:ln/>
        </p:spPr>
      </p:sp>
      <p:sp>
        <p:nvSpPr>
          <p:cNvPr id="14" name="Shape 12"/>
          <p:cNvSpPr/>
          <p:nvPr/>
        </p:nvSpPr>
        <p:spPr>
          <a:xfrm>
            <a:off x="777240" y="3666744"/>
            <a:ext cx="457200" cy="457200"/>
          </a:xfrm>
          <a:prstGeom prst="ellipse">
            <a:avLst/>
          </a:prstGeom>
          <a:solidFill>
            <a:srgbClr val="1E2761"/>
          </a:solidFill>
          <a:ln/>
        </p:spPr>
      </p:sp>
      <p:sp>
        <p:nvSpPr>
          <p:cNvPr id="15" name="Text 13"/>
          <p:cNvSpPr/>
          <p:nvPr/>
        </p:nvSpPr>
        <p:spPr>
          <a:xfrm>
            <a:off x="777240" y="36667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463040" y="3557016"/>
            <a:ext cx="9966960" cy="68580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Target discharge planning for Senior and Young Adult patients — step-down care or earlier discharge to ease bed pressure.</a:t>
            </a:r>
            <a:endParaRPr lang="en-US" sz="1250" dirty="0"/>
          </a:p>
        </p:txBody>
      </p:sp>
      <p:sp>
        <p:nvSpPr>
          <p:cNvPr id="17" name="Shape 15"/>
          <p:cNvSpPr/>
          <p:nvPr/>
        </p:nvSpPr>
        <p:spPr>
          <a:xfrm>
            <a:off x="548640" y="4398264"/>
            <a:ext cx="11091672" cy="685800"/>
          </a:xfrm>
          <a:prstGeom prst="roundRect">
            <a:avLst>
              <a:gd name="adj" fmla="val 10667"/>
            </a:avLst>
          </a:prstGeom>
          <a:solidFill>
            <a:srgbClr val="F4F6FC"/>
          </a:solidFill>
          <a:ln/>
        </p:spPr>
      </p:sp>
      <p:sp>
        <p:nvSpPr>
          <p:cNvPr id="18" name="Shape 16"/>
          <p:cNvSpPr/>
          <p:nvPr/>
        </p:nvSpPr>
        <p:spPr>
          <a:xfrm>
            <a:off x="777240" y="4507992"/>
            <a:ext cx="457200" cy="457200"/>
          </a:xfrm>
          <a:prstGeom prst="ellipse">
            <a:avLst/>
          </a:prstGeom>
          <a:solidFill>
            <a:srgbClr val="1E2761"/>
          </a:solidFill>
          <a:ln/>
        </p:spPr>
      </p:sp>
      <p:sp>
        <p:nvSpPr>
          <p:cNvPr id="19" name="Text 17"/>
          <p:cNvSpPr/>
          <p:nvPr/>
        </p:nvSpPr>
        <p:spPr>
          <a:xfrm>
            <a:off x="777240" y="45079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463040" y="4398264"/>
            <a:ext cx="9966960" cy="68580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Conduct a focused review of the 2024 downturn — referral pipelines, seasonal effects, and capacity constraints.</a:t>
            </a:r>
            <a:endParaRPr lang="en-US" sz="1250" dirty="0"/>
          </a:p>
        </p:txBody>
      </p:sp>
      <p:sp>
        <p:nvSpPr>
          <p:cNvPr id="21" name="Shape 19"/>
          <p:cNvSpPr/>
          <p:nvPr/>
        </p:nvSpPr>
        <p:spPr>
          <a:xfrm>
            <a:off x="548640" y="5239512"/>
            <a:ext cx="11091672" cy="685800"/>
          </a:xfrm>
          <a:prstGeom prst="roundRect">
            <a:avLst>
              <a:gd name="adj" fmla="val 10667"/>
            </a:avLst>
          </a:prstGeom>
          <a:solidFill>
            <a:srgbClr val="F4F6FC"/>
          </a:solidFill>
          <a:ln/>
        </p:spPr>
      </p:sp>
      <p:sp>
        <p:nvSpPr>
          <p:cNvPr id="22" name="Shape 20"/>
          <p:cNvSpPr/>
          <p:nvPr/>
        </p:nvSpPr>
        <p:spPr>
          <a:xfrm>
            <a:off x="777240" y="5349240"/>
            <a:ext cx="457200" cy="457200"/>
          </a:xfrm>
          <a:prstGeom prst="ellipse">
            <a:avLst/>
          </a:prstGeom>
          <a:solidFill>
            <a:srgbClr val="1E2761"/>
          </a:solidFill>
          <a:ln/>
        </p:spPr>
      </p:sp>
      <p:sp>
        <p:nvSpPr>
          <p:cNvPr id="23" name="Text 21"/>
          <p:cNvSpPr/>
          <p:nvPr/>
        </p:nvSpPr>
        <p:spPr>
          <a:xfrm>
            <a:off x="777240" y="5349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4" name="Text 22"/>
          <p:cNvSpPr/>
          <p:nvPr/>
        </p:nvSpPr>
        <p:spPr>
          <a:xfrm>
            <a:off x="1463040" y="5239512"/>
            <a:ext cx="9966960" cy="68580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Monitor monthly revenue seasonality (March low, July high) to align staffing and budget planning with demand.</a:t>
            </a:r>
            <a:endParaRPr lang="en-US" sz="1250" dirty="0"/>
          </a:p>
        </p:txBody>
      </p:sp>
      <p:sp>
        <p:nvSpPr>
          <p:cNvPr id="25" name="Text 23"/>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5A6B8C"/>
                </a:solidFill>
                <a:latin typeface="Calibri" pitchFamily="34" charset="0"/>
                <a:ea typeface="Calibri" pitchFamily="34" charset="-122"/>
                <a:cs typeface="Calibri" pitchFamily="34" charset="-120"/>
              </a:rPr>
              <a:t>Hospital Records Analysis 2021–2024</a:t>
            </a:r>
            <a:endParaRPr lang="en-US" sz="1000" dirty="0"/>
          </a:p>
        </p:txBody>
      </p:sp>
      <p:sp>
        <p:nvSpPr>
          <p:cNvPr id="26" name="Text 2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E8A73B"/>
                </a:solidFill>
                <a:latin typeface="Calibri" pitchFamily="34" charset="0"/>
                <a:ea typeface="Calibri" pitchFamily="34" charset="-122"/>
                <a:cs typeface="Calibri" pitchFamily="34" charset="-120"/>
              </a:rPr>
              <a:t>SECTION 7</a:t>
            </a:r>
            <a:endParaRPr lang="en-US" sz="1250" dirty="0"/>
          </a:p>
        </p:txBody>
      </p:sp>
      <p:sp>
        <p:nvSpPr>
          <p:cNvPr id="3" name="Text 1"/>
          <p:cNvSpPr/>
          <p:nvPr/>
        </p:nvSpPr>
        <p:spPr>
          <a:xfrm>
            <a:off x="548640" y="713232"/>
            <a:ext cx="1078992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Conclusion</a:t>
            </a:r>
            <a:endParaRPr lang="en-US" sz="2700" dirty="0"/>
          </a:p>
        </p:txBody>
      </p:sp>
      <p:sp>
        <p:nvSpPr>
          <p:cNvPr id="4" name="Shape 2"/>
          <p:cNvSpPr/>
          <p:nvPr/>
        </p:nvSpPr>
        <p:spPr>
          <a:xfrm>
            <a:off x="548640" y="1783080"/>
            <a:ext cx="11091672" cy="4023360"/>
          </a:xfrm>
          <a:prstGeom prst="roundRect">
            <a:avLst>
              <a:gd name="adj" fmla="val 2273"/>
            </a:avLst>
          </a:prstGeom>
          <a:solidFill>
            <a:srgbClr val="263373"/>
          </a:solidFill>
          <a:ln/>
        </p:spPr>
      </p:sp>
      <p:sp>
        <p:nvSpPr>
          <p:cNvPr id="5" name="Text 3"/>
          <p:cNvSpPr/>
          <p:nvPr/>
        </p:nvSpPr>
        <p:spPr>
          <a:xfrm>
            <a:off x="914400" y="2103120"/>
            <a:ext cx="10378440" cy="3383280"/>
          </a:xfrm>
          <a:prstGeom prst="rect">
            <a:avLst/>
          </a:prstGeom>
          <a:noFill/>
          <a:ln/>
        </p:spPr>
        <p:txBody>
          <a:bodyPr wrap="square" rtlCol="0" anchor="t"/>
          <a:lstStyle/>
          <a:p>
            <a:pPr indent="0" marL="0">
              <a:lnSpc>
                <a:spcPct val="135000"/>
              </a:lnSpc>
              <a:buNone/>
            </a:pPr>
            <a:r>
              <a:rPr lang="en-US" sz="1500" dirty="0">
                <a:solidFill>
                  <a:srgbClr val="CADCFC"/>
                </a:solidFill>
                <a:latin typeface="Calibri" pitchFamily="34" charset="0"/>
                <a:ea typeface="Calibri" pitchFamily="34" charset="-122"/>
                <a:cs typeface="Calibri" pitchFamily="34" charset="-120"/>
              </a:rPr>
              <a:t>Between 2021 and 2024, the hospital treated 1,000 patients across 37 treatment types and 29 diagnoses, generating $9.59M in total revenue. While patient volume grew steadily through 2023, revenue peaked earlier in 2022 and declined thereafter — a gap that deserves management's attention. Surgery and Physiotherapy remain the hospital's core revenue drivers, and Senior and Young Adult patients are the primary drivers of bed occupancy through longer stays. The sharp downturn in both revenue and patient volume in 2024 is the single most urgent finding in this analysis and should be prioritized for further investigation. Acting on the recommendations in this report can help management stabilize revenue, optimize bed utilization, and prepare for more consistent performance going forward.</a:t>
            </a:r>
            <a:endParaRPr lang="en-US" sz="1500" dirty="0"/>
          </a:p>
        </p:txBody>
      </p:sp>
      <p:sp>
        <p:nvSpPr>
          <p:cNvPr id="6" name="Text 4"/>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9AA9CC"/>
                </a:solidFill>
                <a:latin typeface="Calibri" pitchFamily="34" charset="0"/>
                <a:ea typeface="Calibri" pitchFamily="34" charset="-122"/>
                <a:cs typeface="Calibri" pitchFamily="34" charset="-120"/>
              </a:rPr>
              <a:t>Hospital Records Analysis 2021–2024</a:t>
            </a:r>
            <a:endParaRPr lang="en-US" sz="10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263373"/>
          </a:solidFill>
          <a:ln/>
        </p:spPr>
      </p:sp>
      <p:sp>
        <p:nvSpPr>
          <p:cNvPr id="3" name="Text 1"/>
          <p:cNvSpPr/>
          <p:nvPr/>
        </p:nvSpPr>
        <p:spPr>
          <a:xfrm>
            <a:off x="731520" y="2651760"/>
            <a:ext cx="91440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4" name="Text 2"/>
          <p:cNvSpPr/>
          <p:nvPr/>
        </p:nvSpPr>
        <p:spPr>
          <a:xfrm>
            <a:off x="731520" y="3383280"/>
            <a:ext cx="914400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Questions or requests for deeper drill-down analysis are welcome.</a:t>
            </a:r>
            <a:endParaRPr lang="en-US" sz="1500" dirty="0"/>
          </a:p>
        </p:txBody>
      </p:sp>
      <p:sp>
        <p:nvSpPr>
          <p:cNvPr id="5" name="Text 3"/>
          <p:cNvSpPr/>
          <p:nvPr/>
        </p:nvSpPr>
        <p:spPr>
          <a:xfrm>
            <a:off x="731520" y="6035040"/>
            <a:ext cx="9144000" cy="365760"/>
          </a:xfrm>
          <a:prstGeom prst="rect">
            <a:avLst/>
          </a:prstGeom>
          <a:noFill/>
          <a:ln/>
        </p:spPr>
        <p:txBody>
          <a:bodyPr wrap="square" lIns="0" tIns="0" rIns="0" bIns="0" rtlCol="0" anchor="ctr"/>
          <a:lstStyle/>
          <a:p>
            <a:pPr indent="0" marL="0">
              <a:buNone/>
            </a:pPr>
            <a:r>
              <a:rPr lang="en-US" sz="1200" dirty="0">
                <a:solidFill>
                  <a:srgbClr val="8593C4"/>
                </a:solidFill>
                <a:latin typeface="Calibri" pitchFamily="34" charset="0"/>
                <a:ea typeface="Calibri" pitchFamily="34" charset="-122"/>
                <a:cs typeface="Calibri" pitchFamily="34" charset="-120"/>
              </a:rPr>
              <a:t>Prepared by Ubong Solomon  •  Hospital Records Analysis 2021–2024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2026-08-22T12:17:24Z</dcterms:created>
  <dcterms:modified xsi:type="dcterms:W3CDTF">2026-08-22T12:17:24Z</dcterms:modified>
</cp:coreProperties>
</file>